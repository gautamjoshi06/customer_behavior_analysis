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"/>
      <p:regular r:id="rId201315"/>
    </p:embeddedFont>
    <p:embeddedFont>
      <p:font typeface="Barlow Bold"/>
      <p:regular r:id="rId201316"/>
    </p:embeddedFont>
    <p:embeddedFont>
      <p:font typeface="Barlow Semi Condensed"/>
      <p:regular r:id="rId201317"/>
    </p:embeddedFont>
    <p:embeddedFont>
      <p:font typeface="Barlow Semi Condensed Medium"/>
      <p:regular r:id="rId201318"/>
    </p:embeddedFont>
    <p:embeddedFont>
      <p:font typeface="Barlow Semi Condensed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92653" cy="68580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536575"/>
            <a:ext cx="541006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60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2588" y="2092996"/>
            <a:ext cx="4927477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spc="-144" kern="100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Customer</a:t>
            </a:r>
            <a:endParaRPr lang="en-US" sz="48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800" spc="-144" kern="100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Shopping</a:t>
            </a:r>
            <a:endParaRPr lang="en-US" sz="48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800" spc="-144" kern="100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Behavior</a:t>
            </a:r>
            <a:endParaRPr lang="en-US" sz="48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800" spc="-144" kern="100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Analysis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82588" y="5834459"/>
            <a:ext cx="1626055" cy="38100"/>
          </a:xfrm>
          <a:prstGeom prst="roundRect">
            <a:avLst>
              <a:gd name="adj" fmla="val 49999"/>
            </a:avLst>
          </a:prstGeom>
          <a:solidFill>
            <a:srgbClr val="1F4E8C"/>
          </a:solidFill>
          <a:ln/>
        </p:spPr>
      </p:sp>
      <p:sp>
        <p:nvSpPr>
          <p:cNvPr id="6" name="Text 4"/>
          <p:cNvSpPr/>
          <p:nvPr/>
        </p:nvSpPr>
        <p:spPr>
          <a:xfrm>
            <a:off x="482588" y="6084967"/>
            <a:ext cx="541006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transactions to targeting, merchandising, and retention.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653" y="0"/>
            <a:ext cx="629904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016"/>
            <a:ext cx="291080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60" kern="100" dirty="0">
                <a:solidFill>
                  <a:srgbClr val="A451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DATASET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911777"/>
            <a:ext cx="2301222" cy="268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spc="-144" kern="100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What the dataset reveals at a glance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749754"/>
            <a:ext cx="2301222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3,900 purchases across 18 columns and 4 product categories support a focused customer-behavior story.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4939109"/>
            <a:ext cx="759401" cy="38100"/>
          </a:xfrm>
          <a:prstGeom prst="roundRect">
            <a:avLst>
              <a:gd name="adj" fmla="val 49999"/>
            </a:avLst>
          </a:prstGeom>
          <a:solidFill>
            <a:srgbClr val="1F4E8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5180409"/>
            <a:ext cx="2301222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Average purchase: $59.76</a:t>
            </a:r>
            <a:endParaRPr lang="en-US" sz="10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000" spc="-28" kern="10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Average review rating: 3.75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Core question: how do customer segments, products, discounts, and subscriptions shape revenue?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066" y="1736626"/>
            <a:ext cx="6995045" cy="33847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50699" y="6466086"/>
            <a:ext cx="24099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775"/>
            <a:ext cx="115821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60" kern="100" dirty="0">
                <a:solidFill>
                  <a:srgbClr val="A451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ANALYSIS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91536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spc="-144" kern="100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From raw transactions to business insight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717953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Five steps moved the dataset from inspection to SQL-ready analysis.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3570486"/>
            <a:ext cx="1950691" cy="2677914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799086"/>
            <a:ext cx="76327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00000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38179" y="4048026"/>
            <a:ext cx="1493403" cy="19050"/>
          </a:xfrm>
          <a:prstGeom prst="rect">
            <a:avLst/>
          </a:prstGeom>
          <a:solidFill>
            <a:srgbClr val="1F4E8C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4186980"/>
            <a:ext cx="149350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51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Loaded and profiled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8179" y="4784804"/>
            <a:ext cx="149350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Loaded and profiled the dataset with pandas.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64969" y="3570486"/>
            <a:ext cx="1950691" cy="2677914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11" name="Text 9"/>
          <p:cNvSpPr/>
          <p:nvPr/>
        </p:nvSpPr>
        <p:spPr>
          <a:xfrm>
            <a:off x="3093563" y="3799086"/>
            <a:ext cx="80146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00000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93563" y="4048026"/>
            <a:ext cx="1493403" cy="19050"/>
          </a:xfrm>
          <a:prstGeom prst="rect">
            <a:avLst/>
          </a:prstGeom>
          <a:solidFill>
            <a:srgbClr val="1F4E8C"/>
          </a:solidFill>
          <a:ln/>
        </p:spPr>
      </p:sp>
      <p:sp>
        <p:nvSpPr>
          <p:cNvPr id="13" name="Text 11"/>
          <p:cNvSpPr/>
          <p:nvPr/>
        </p:nvSpPr>
        <p:spPr>
          <a:xfrm>
            <a:off x="3093563" y="4186980"/>
            <a:ext cx="149350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51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Handled missing ratings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93563" y="4784804"/>
            <a:ext cx="149350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Handled 37 missing review ratings using category medians.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20353" y="3570486"/>
            <a:ext cx="1950889" cy="2677914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16" name="Text 14"/>
          <p:cNvSpPr/>
          <p:nvPr/>
        </p:nvSpPr>
        <p:spPr>
          <a:xfrm>
            <a:off x="5348947" y="3799086"/>
            <a:ext cx="79789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00000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48947" y="4048026"/>
            <a:ext cx="1493701" cy="19050"/>
          </a:xfrm>
          <a:prstGeom prst="rect">
            <a:avLst/>
          </a:prstGeom>
          <a:solidFill>
            <a:srgbClr val="1F4E8C"/>
          </a:solidFill>
          <a:ln/>
        </p:spPr>
      </p:sp>
      <p:sp>
        <p:nvSpPr>
          <p:cNvPr id="18" name="Text 16"/>
          <p:cNvSpPr/>
          <p:nvPr/>
        </p:nvSpPr>
        <p:spPr>
          <a:xfrm>
            <a:off x="5348947" y="4186980"/>
            <a:ext cx="1493701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51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Engineered features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48947" y="4784804"/>
            <a:ext cx="1493701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Standardized columns and engineered age and purchase-frequency features.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75936" y="3570486"/>
            <a:ext cx="1950691" cy="2677914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21" name="Text 19"/>
          <p:cNvSpPr/>
          <p:nvPr/>
        </p:nvSpPr>
        <p:spPr>
          <a:xfrm>
            <a:off x="7604530" y="3799086"/>
            <a:ext cx="80752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00000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04530" y="4048026"/>
            <a:ext cx="1493403" cy="19050"/>
          </a:xfrm>
          <a:prstGeom prst="rect">
            <a:avLst/>
          </a:prstGeom>
          <a:solidFill>
            <a:srgbClr val="1F4E8C"/>
          </a:solidFill>
          <a:ln/>
        </p:spPr>
      </p:sp>
      <p:sp>
        <p:nvSpPr>
          <p:cNvPr id="23" name="Text 21"/>
          <p:cNvSpPr/>
          <p:nvPr/>
        </p:nvSpPr>
        <p:spPr>
          <a:xfrm>
            <a:off x="7604530" y="4186980"/>
            <a:ext cx="149350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51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Checked redundancy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604530" y="4784804"/>
            <a:ext cx="149350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Checked redundant discount and promo fields.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31320" y="3570486"/>
            <a:ext cx="1950790" cy="2677914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26" name="Text 24"/>
          <p:cNvSpPr/>
          <p:nvPr/>
        </p:nvSpPr>
        <p:spPr>
          <a:xfrm>
            <a:off x="9859914" y="3799086"/>
            <a:ext cx="7976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000000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859914" y="4048026"/>
            <a:ext cx="1493502" cy="19050"/>
          </a:xfrm>
          <a:prstGeom prst="rect">
            <a:avLst/>
          </a:prstGeom>
          <a:solidFill>
            <a:srgbClr val="1F4E8C"/>
          </a:solidFill>
          <a:ln/>
        </p:spPr>
      </p:sp>
      <p:sp>
        <p:nvSpPr>
          <p:cNvPr id="28" name="Text 26"/>
          <p:cNvSpPr/>
          <p:nvPr/>
        </p:nvSpPr>
        <p:spPr>
          <a:xfrm>
            <a:off x="9859914" y="4186980"/>
            <a:ext cx="149360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51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Loaded into PostgreSQL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859914" y="4784804"/>
            <a:ext cx="1493602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Loaded the cleaned data into PostgreSQL for SQL analysis.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953378" y="6466086"/>
            <a:ext cx="23831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737"/>
            <a:ext cx="1158211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spc="58" kern="100" dirty="0">
                <a:solidFill>
                  <a:srgbClr val="A451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REVENUE MIX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9585" y="876030"/>
            <a:ext cx="10972526" cy="650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650" spc="-140" kern="100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Revenue is concentrated among male customers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609585" y="1780912"/>
            <a:ext cx="4206075" cy="591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50" spc="-140" kern="100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$233,081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609585" y="2487391"/>
            <a:ext cx="4206075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spc="-28" kern="10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Observed revenue across male and female customers.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9585" y="2757932"/>
            <a:ext cx="4206075" cy="47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observed revenue mix is roughly two-to-one, creating a clear targeting question for the business.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749" y="1723430"/>
            <a:ext cx="6121842" cy="402431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72749" y="5846366"/>
            <a:ext cx="3078482" cy="1017687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9" name="Text 6"/>
          <p:cNvSpPr/>
          <p:nvPr/>
        </p:nvSpPr>
        <p:spPr>
          <a:xfrm>
            <a:off x="5501344" y="6087130"/>
            <a:ext cx="2621294" cy="271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50" spc="-58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$157,890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501344" y="6470726"/>
            <a:ext cx="2849888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spc="5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MALE CUSTOMERS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503628" y="5846366"/>
            <a:ext cx="3078482" cy="1017687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12" name="Text 9"/>
          <p:cNvSpPr/>
          <p:nvPr/>
        </p:nvSpPr>
        <p:spPr>
          <a:xfrm>
            <a:off x="8732222" y="6087130"/>
            <a:ext cx="2621294" cy="271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50" spc="-58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$75,191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8732222" y="6470726"/>
            <a:ext cx="2849888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spc="5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FEMALE CUSTOMERS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948814" y="6466086"/>
            <a:ext cx="24288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50007"/>
            <a:ext cx="115821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60" kern="100" dirty="0">
                <a:solidFill>
                  <a:srgbClr val="A451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CATEGORY ECONOMY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1128768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spc="-144" kern="100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Clothing leads the category economy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95518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Clothing contributes approximately $100K revenue and 1,700 sales. Accessories follows with approximately $75K revenue and 1,250 sales.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353568"/>
            <a:ext cx="1097252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000" spc="-28" kern="10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Footwear and outerwear are smaller contributors in the dashboard view.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category products: Jewelry, Blouse, Sandals, and Jacket lead their respective categories.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026668"/>
            <a:ext cx="10413739" cy="2984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53477" y="6466086"/>
            <a:ext cx="2382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3830"/>
            <a:ext cx="291080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60" kern="100" dirty="0">
                <a:solidFill>
                  <a:srgbClr val="A451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 SIGNAL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922591"/>
            <a:ext cx="2301222" cy="335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spc="-144" kern="100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Ratings point to a strong product shortlist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4431090"/>
            <a:ext cx="2301222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Five products lead on average customer rating and can anchor campaigns, bundles, and review-led merchandising.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5620445"/>
            <a:ext cx="759401" cy="38100"/>
          </a:xfrm>
          <a:prstGeom prst="roundRect">
            <a:avLst>
              <a:gd name="adj" fmla="val 49999"/>
            </a:avLst>
          </a:prstGeom>
          <a:solidFill>
            <a:srgbClr val="1F4E8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5864919"/>
            <a:ext cx="23012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shortlist spans Gloves, Sandals, Boots, Hat, and Skirt.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066" y="1736626"/>
            <a:ext cx="6995045" cy="33847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53378" y="6466086"/>
            <a:ext cx="23831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675"/>
            <a:ext cx="6522577" cy="120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spc="46" kern="100" dirty="0">
                <a:solidFill>
                  <a:srgbClr val="A451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DISCOUNT BEHAVIOR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09585" y="796453"/>
            <a:ext cx="5912992" cy="1539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50" spc="-110" kern="100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Discounts attract high-value shoppers, but may train dependency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609585" y="2452226"/>
            <a:ext cx="5912992" cy="466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50" spc="-110" kern="100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839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09585" y="2985823"/>
            <a:ext cx="6522577" cy="168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b="1" spc="-28" kern="100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customers</a:t>
            </a:r>
            <a:pPr algn="l" indent="0" marL="0">
              <a:lnSpc>
                <a:spcPct val="103000"/>
              </a:lnSpc>
              <a:buNone/>
            </a:pPr>
            <a:r>
              <a:rPr lang="en-US" sz="105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used discounts while still spending above the average purchase amount.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585" y="3244590"/>
            <a:ext cx="6522577" cy="120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spc="-28" kern="10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Discount-heavy products include Hat at 50.00%, Sneakers at 49.66%, and Coat at 49.07% of purchases.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6855" y="0"/>
            <a:ext cx="4754840" cy="3276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3581400"/>
            <a:ext cx="12191695" cy="327660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9" name="Text 6"/>
          <p:cNvSpPr/>
          <p:nvPr/>
        </p:nvSpPr>
        <p:spPr>
          <a:xfrm>
            <a:off x="609585" y="4999761"/>
            <a:ext cx="10972526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50" spc="-46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Business tension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09585" y="5289980"/>
            <a:ext cx="11582110" cy="168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spc="-28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Discounts can lift conversion while putting pressure on margin and full-price behavior.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958537" y="6466086"/>
            <a:ext cx="23315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26616"/>
            <a:ext cx="533386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60" kern="100" dirty="0">
                <a:solidFill>
                  <a:srgbClr val="A451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LOYALTY &amp; SUBSCRIPTIONS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1305377"/>
            <a:ext cx="4724282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spc="-144" kern="100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Loyalty is strong; subscription adoption is the gap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472835"/>
            <a:ext cx="472428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customers are already loyal, but subscription penetration remains limited.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4120059"/>
            <a:ext cx="1473163" cy="104140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4361359"/>
            <a:ext cx="101597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60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3,116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4758234"/>
            <a:ext cx="124456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60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LOYAL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35144" y="4120059"/>
            <a:ext cx="1473163" cy="104140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9" name="Text 7"/>
          <p:cNvSpPr/>
          <p:nvPr/>
        </p:nvSpPr>
        <p:spPr>
          <a:xfrm>
            <a:off x="2463738" y="4361359"/>
            <a:ext cx="101597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60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701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3738" y="4758234"/>
            <a:ext cx="124456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60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RETURNING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60703" y="4120059"/>
            <a:ext cx="1473163" cy="104140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4089298" y="4361359"/>
            <a:ext cx="101597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60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83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89298" y="4758234"/>
            <a:ext cx="124456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60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9585" y="5320209"/>
            <a:ext cx="472428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000" spc="-28" kern="10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Subscription status: 27% subscribed and 73% not subscribed.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Average spend is nearly flat: subscribers $59.49 versus non-subscribers $59.87.</a:t>
            </a:r>
            <a:endParaRPr lang="en-US" sz="10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28" y="1728688"/>
            <a:ext cx="4724282" cy="340062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952584" y="6466086"/>
            <a:ext cx="23911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00"/>
            <a:ext cx="315458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spc="59" kern="100" dirty="0">
                <a:solidFill>
                  <a:srgbClr val="A451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VALUE BY CUSTOMER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86405"/>
            <a:ext cx="3154581" cy="398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750" spc="-143" kern="100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Young adults lead revenue, while shipping creates a small upsell signal</a:t>
            </a:r>
            <a:endParaRPr lang="en-US" sz="4750" dirty="0"/>
          </a:p>
        </p:txBody>
      </p:sp>
      <p:sp>
        <p:nvSpPr>
          <p:cNvPr id="4" name="Text 2"/>
          <p:cNvSpPr/>
          <p:nvPr/>
        </p:nvSpPr>
        <p:spPr>
          <a:xfrm>
            <a:off x="609585" y="5021224"/>
            <a:ext cx="3154581" cy="736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Young adults contribute the highest observed revenue, with fairly balanced age-group performance.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5854799"/>
            <a:ext cx="3154581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000" spc="-28" kern="10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Express shipping averages $60.48 per purchase versus $58.46 for Standard.</a:t>
            </a:r>
            <a:endParaRPr lang="en-US" sz="10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000" spc="-28" kern="10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difference is modest, but express-shipping users may be a useful audience for convenience-oriented offers.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1255" y="1386483"/>
            <a:ext cx="7360855" cy="35617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21255" y="5051028"/>
            <a:ext cx="3604229" cy="103376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8" name="Text 5"/>
          <p:cNvSpPr/>
          <p:nvPr/>
        </p:nvSpPr>
        <p:spPr>
          <a:xfrm>
            <a:off x="4449850" y="5289953"/>
            <a:ext cx="3147041" cy="276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59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$60.48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449850" y="5684768"/>
            <a:ext cx="3375635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spc="59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EXPRESS SHIPPING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77881" y="5051028"/>
            <a:ext cx="3604229" cy="103376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11" name="Text 8"/>
          <p:cNvSpPr/>
          <p:nvPr/>
        </p:nvSpPr>
        <p:spPr>
          <a:xfrm>
            <a:off x="8206475" y="5289953"/>
            <a:ext cx="3147041" cy="276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59" kern="10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$58.46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06475" y="5684768"/>
            <a:ext cx="3375635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spc="59" kern="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 SHIPPING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952584" y="6466086"/>
            <a:ext cx="23911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38659"/>
            <a:ext cx="731501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60" kern="100" dirty="0">
                <a:solidFill>
                  <a:srgbClr val="A451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1617420"/>
            <a:ext cx="6705432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spc="-144" kern="100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Recommendations: turn analysis into action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105150"/>
            <a:ext cx="6705432" cy="2417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b="1" spc="-28" kern="100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Grow subscriptions: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test exclusive benefits, early access, or shipping perks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b="1" spc="-28" kern="100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Reward repeat behavior: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move returning customers toward the loyal segment with tiered loyalty rewards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b="1" spc="-28" kern="100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Protect margin: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target discounts to high-potential shoppers and monitor discount-dependent products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b="1" spc="-28" kern="100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Merchandise the winners: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feature top-rated and best-selling products in campaigns and bundles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400" b="1" spc="-28" kern="100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Target by value: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400" spc="-28" kern="10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prioritize young adults, high-spending discount users, and express-shipping audiences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394" y="0"/>
            <a:ext cx="396230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2026-10-14T21:04:09Z</dcterms:created>
  <dcterms:modified xsi:type="dcterms:W3CDTF">2026-10-14T21:04:09Z</dcterms:modified>
</cp:coreProperties>
</file>